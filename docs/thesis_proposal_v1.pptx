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F2F4F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0"/>
            <a:ext cx="3657600" cy="36576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81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國立成功大學 EMBA 碩士學位論文計畫書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情境化AI決策支援對智慧製造管理者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資訊理解、信任與決策採用意願之影響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Effects of Contextualized AI Decision Support on Managers' Information Understanding, Trust, and Decision Adoption Intention in Smart Manufacturing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2926080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805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</a:rPr>
              <a:t>指導教授：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徐立群 博士
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</a:rPr>
              <a:t>研究生：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Phidia
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</a:rPr>
              <a:t>版本：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提案版 v1（2026/8）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情境化AI決策支援研究計畫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研究計畫大綱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研究背景與動機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8288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80960" y="16916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文獻探討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828800" y="30632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研究架構與假設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30632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200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680960" y="30632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研究方法與工具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72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828800" y="44348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資料分析與先導測試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0" y="44348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5720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680960" y="44348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預期貢獻、限制與時程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情境化AI決策支援研究計畫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研究背景與動機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智慧製造管理者每日面對高複雜度、高時間壓力的異常升級決策——例如封裝良率異常升級、供應鏈交期風險判斷——決策品質直接牽動公司營收與客戶關係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企業導入AI決策支援系統的速度，快於管理者建立信任的速度：Deloitte（2025）針對600位製造業高階主管的調查指出，人才與信任仍是智慧製造推行的首要障礙，而非技術本身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近期系統性文獻回顧（Montealegre-López, 2025；Marocco, Barbieri, &amp; Talamo, 2024）皆指出：AI在「管理決策」情境下的信任研究仍屬新興且分散的領域，尤其缺乏製造業高階管理情境的實證資料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–"/>
            </a:pPr>
            <a:r>
              <a:rPr lang="en-US" sz="15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研究動機：若能釐清「情境化程度」如何影響管理者對AI建議的理解與信任，便能為企業AI決策支援介面設計提供實證依據——這也是本研究與VPO智慧製造決策支援系統開發直接呼應之處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研究背景與動機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研究缺口定位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理論缺口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信任理論（Trust in Automation, Lee &amp; See, 2004；Mayer et al., 1995）多在自動化系統與醫療臨床決策情境中驗證，較少延伸至製造業管理者的異常升級決策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2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6596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方法缺口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多數研究以問卷量測「採用意願」，鮮少同時蒐集「實際決策行為」資料；行為與意願是否一致，仍待實證檢驗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2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96596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情境缺口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108960"/>
            <a:ext cx="2971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「情境化AI建議」（附證據來源、風險分級、信心水準）是否比單純結論式建議更能建立信任與理解，目前尚缺乏對照實驗證據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研究背景與動機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· RESEARCH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研究問題與目的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RQ1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83080" y="169164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情境化AI決策資訊品質是否正向影響管理者的資訊理解？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RQ2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60604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資訊理解是否正向影響管理者對AI的信任？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RQ3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352044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AI信任是否正向影響決策採用意願／行動意願？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RQ4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443484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資訊理解是否對決策採用意願具有直接效果？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051560" cy="749808"/>
          </a:xfrm>
          <a:prstGeom prst="roundRect">
            <a:avLst>
              <a:gd name="adj" fmla="val 7317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49240"/>
            <a:ext cx="1051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RQ5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34924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感知決策品質是否在資訊理解、AI信任與決策採用意願間扮演中介角色？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研究背景與動機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文獻探討（一）人機信任理論脈絡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Muir (1987)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03320" y="1645920"/>
            <a:ext cx="7909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提出人機信任的早期模型，指出信任是使用者是否依賴自動化系統的關鍵前提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1064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Mayer, Davis &amp; Schoorman (1995)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03320" y="2743200"/>
            <a:ext cx="7909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組織信任整合模型：能力（Ability）、誠信（Integrity）、善意（Benevolence）三構面，廣泛被後續AI信任研究採用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1064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Lee &amp; See (2004)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840480"/>
            <a:ext cx="7909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in Automation：信任程度決定使用者是否「適當依賴」（appropriate reliance）自動化建議，而非過度依賴或完全不用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64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937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Hoff &amp; Bashir (2015)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4937760"/>
            <a:ext cx="7909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統整實證證據，區分傾向性信任、情境性信任與習得性信任三層次，說明信任會隨情境資訊而動態變化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897880"/>
            <a:ext cx="1106424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文獻探討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文獻探討（二）技術接受與資訊系統成功理論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Davis (1989)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知覺有用性、知覺易用性 → 使用意圖。本研究以「決策採用意願」對應TAM的行為意圖構面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IS成功模式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DeLone &amp; McLean (1992, 2003)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資訊品質、系統品質 → 使用 → 淨效益。本研究以「情境化AI決策資訊品質」對應資訊品質構面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任務科技適配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Goodhue &amp; Thompson (1995)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269748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任務與科技的適配程度決定使用績效。本研究以此檢視「異常升級決策」任務與AI建議呈現形式的適配性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本研究整合三理論：以TTF觀點檢視「決策任務—AI建議形式」適配性，以ISS觀點界定「情境化資訊品質」的操作型定義，並以TAM檢視最終的決策採用意願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文獻探討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·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文獻探討（三）智慧製造AI決策支援現況與研究定位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全球製造業AI導入持續加速，但Deloitte（2025）對600位高階主管的調查顯示，人才與組織信任仍是最大障礙，技術可行性已非主要瓶頸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AI導入的「組織與行為面」研究仍相對不足：多數文獻聚焦技術效能，較少實證探討管理者如何與AI建議互動、如何形成信任並轉化為實際決策（Marocco et al., 2024）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Montealegre-López（2025）系統性回顧70篇文獻後指出，AI信任研究在「決策增強」（AI提供建議、人類決定）情境下仍分散，缺乏整合型的實證模型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A98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研究定位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整合信任理論、TAM、ISS、TTF四個理論脈絡，聚焦於「情境化揭露程度」如何影響製造業高階管理者的資訊理解、AI信任與決策採用意願，並以行為資料（實際決策）與量表資料雙軌驗證，填補現有文獻在製造業管理決策情境下的實證缺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文獻探討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CONCEPTUAL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研究架構圖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2C4870"/>
          </a:solidFill>
          <a:ln w="9525">
            <a:solidFill>
              <a:srgbClr val="2C48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798064"/>
            <a:ext cx="21396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AI決策資訊品質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(情境化)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3337560"/>
            <a:ext cx="274320" cy="9144"/>
          </a:xfrm>
          <a:prstGeom prst="line">
            <a:avLst/>
          </a:prstGeom>
          <a:noFill/>
          <a:ln w="22225">
            <a:solidFill>
              <a:srgbClr val="2C487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69748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27432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C4870"/>
          </a:solidFill>
          <a:ln w="9525">
            <a:solidFill>
              <a:srgbClr val="2C4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2798064"/>
            <a:ext cx="16824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3337560"/>
            <a:ext cx="274320" cy="9144"/>
          </a:xfrm>
          <a:prstGeom prst="line">
            <a:avLst/>
          </a:prstGeom>
          <a:noFill/>
          <a:ln w="22225">
            <a:solidFill>
              <a:srgbClr val="2C487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4632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7432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2C4870"/>
          </a:solidFill>
          <a:ln w="9525">
            <a:solidFill>
              <a:srgbClr val="2C48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2798064"/>
            <a:ext cx="16824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AI信任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3337560"/>
            <a:ext cx="228600" cy="9144"/>
          </a:xfrm>
          <a:prstGeom prst="line">
            <a:avLst/>
          </a:prstGeom>
          <a:noFill/>
          <a:ln w="22225">
            <a:solidFill>
              <a:srgbClr val="2C487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995160" y="2880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27432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2798064"/>
            <a:ext cx="223113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決策採用意願／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行動意願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2148840"/>
            <a:ext cx="9144" cy="594360"/>
          </a:xfrm>
          <a:prstGeom prst="line">
            <a:avLst/>
          </a:prstGeom>
          <a:noFill/>
          <a:ln w="19050">
            <a:solidFill>
              <a:srgbClr val="A9812E"/>
            </a:solidFill>
            <a:prstDash val="dash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977640" y="2148840"/>
            <a:ext cx="4526280" cy="9144"/>
          </a:xfrm>
          <a:prstGeom prst="line">
            <a:avLst/>
          </a:prstGeom>
          <a:noFill/>
          <a:ln w="19050">
            <a:solidFill>
              <a:srgbClr val="A9812E"/>
            </a:solidFill>
            <a:prstDash val="dash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503920" y="2148840"/>
            <a:ext cx="9144" cy="594360"/>
          </a:xfrm>
          <a:prstGeom prst="line">
            <a:avLst/>
          </a:prstGeom>
          <a:noFill/>
          <a:ln w="19050">
            <a:solidFill>
              <a:srgbClr val="A9812E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120640" y="1847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H4（直接效果／穩健性檢定）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47091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A9812E"/>
          </a:solidFill>
          <a:ln w="9525">
            <a:solidFill>
              <a:srgbClr val="A981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4764024"/>
            <a:ext cx="232257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感知決策品質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035040" y="3931920"/>
            <a:ext cx="91440" cy="777240"/>
          </a:xfrm>
          <a:prstGeom prst="line">
            <a:avLst/>
          </a:prstGeom>
          <a:noFill/>
          <a:ln w="19050">
            <a:solidFill>
              <a:srgbClr val="2C4870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7315200" y="3931920"/>
            <a:ext cx="1188720" cy="777240"/>
          </a:xfrm>
          <a:prstGeom prst="line">
            <a:avLst/>
          </a:prstGeom>
          <a:noFill/>
          <a:ln w="19050">
            <a:solidFill>
              <a:srgbClr val="2C4870"/>
            </a:solidFill>
            <a:prstDash val="dash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309360" y="4343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8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40080" y="48280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控制變數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1389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AI使用經驗・職級／年資・任務複雜度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研究架構與假設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HYPOTHESES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研究假設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691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理論依據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情境化AI決策資訊品質正向影響資訊理解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21945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IS成功模式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0607040" cy="77724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297180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資訊理解正向影響AI信任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9718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in Automation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74904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AI信任正向影響決策採用意願／行動意願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37490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0607040" cy="77724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262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5262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資訊理解正向影響決策採用意願（直接效果，作穩健性檢定）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452628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3035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530352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資訊理解與AI信任透過感知決策品質，間接影響決策採用意願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5303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TTF ＋ IS成功模式整合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研究架構與假設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· MEASUREMENT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操作型定義與衡量構念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14984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構念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題項數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600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範例題項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5256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理論來源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05740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05740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我清楚知道這個案件目前面臨的問題是什麼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52560" y="205740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IS成功模式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10149840" cy="658368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157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感知決策品質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71576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71576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我認為這個決策能有效控制風險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271576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TTF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37413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AI信任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3741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3374136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我認為這個AI建議具備足夠的專業能力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52560" y="337413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Mayer et al. (1995)／Lee &amp; See (2004)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32504"/>
            <a:ext cx="10149840" cy="658368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3250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決策採用意願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032504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我願意採用這個決策建議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2560" y="403250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919472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0292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全部採 Likert 5點量表；每構念以3-4題測量以利計算 Cronbach's α，一般建議 α ≥ .70 為可接受、α ≥ .80 為良好。決策信心另以單題行為量測，不納入構念信度計算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研究架構與假設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研究方法：四階段流程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問題探索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半結構式訪談（主管／工程／幕僚）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盤點現有流程與問題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形成情境案例初稿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3931920"/>
            <a:ext cx="192024" cy="9144"/>
          </a:xfrm>
          <a:prstGeom prst="line">
            <a:avLst/>
          </a:prstGeom>
          <a:noFill/>
          <a:ln w="25400">
            <a:solidFill>
              <a:srgbClr val="A9812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2C4870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874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第二階段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模型與原型設計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97180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建立概念模型與介面原型（A組／B組）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專家內容效度與可用性檢查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前測問卷與情境設計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07608" y="3931920"/>
            <a:ext cx="192024" cy="9144"/>
          </a:xfrm>
          <a:prstGeom prst="line">
            <a:avLst/>
          </a:prstGeom>
          <a:noFill/>
          <a:ln w="25400">
            <a:solidFill>
              <a:srgbClr val="A981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74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第三階段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實驗與問卷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97180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受測者填答A組或B組介面問卷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閱讀情境並完成問卷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蒐集理解、信任、意願與資料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42248" y="3931920"/>
            <a:ext cx="192024" cy="9144"/>
          </a:xfrm>
          <a:prstGeom prst="line">
            <a:avLst/>
          </a:prstGeom>
          <a:noFill/>
          <a:ln w="25400">
            <a:solidFill>
              <a:srgbClr val="A9812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2C4870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8745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第四階段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35440" y="2194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焦點座談與修正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2971800"/>
            <a:ext cx="22402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為何採用／不採用AI建議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修正人機協作與介面流程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完成研究結論與設計建議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研究方法與工具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EXPERIMENTAL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實驗設計：2×2 受測者間設計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組別（A一般資訊／B情境化AI）　×　情境（製造／通用）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108960" y="18745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</p:spPr>
      </p:sp>
      <p:sp>
        <p:nvSpPr>
          <p:cNvPr id="6" name="Text 4"/>
          <p:cNvSpPr/>
          <p:nvPr/>
        </p:nvSpPr>
        <p:spPr>
          <a:xfrm>
            <a:off x="333756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A組 × 製造情境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37560" y="24414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一般資訊介面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封裝脫層案例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23760" y="18745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B組 × 製造情境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52360" y="24414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情境化AI建議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封裝脫層案例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08960" y="34290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A組 × 通用情境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399592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一般資訊介面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訂單交期案例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34290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B組 × 通用情境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52360" y="399592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情境化AI建議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訂單交期案例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製造情境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通用情境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雙軌資料：行為資料（實際升級/不升級決策、閱讀與決策耗時）＋ 量表資料（四構念、Likert 5點）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組別隨機指派；情境依受測者背景篩選題（是否涉及製造／品保／供應鏈決策）分流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AI信任構念僅於B組蒐集（A組無AI建議可評估）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研究方法與工具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INSTRUMENT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資料蒐集工具：線上實驗平台（已完成原型）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0" cy="4206240"/>
          </a:xfrm>
          <a:prstGeom prst="roundRect">
            <a:avLst>
              <a:gd name="adj" fmla="val 1739"/>
            </a:avLst>
          </a:prstGeom>
          <a:solidFill>
            <a:srgbClr val="14161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6400800" cy="365760"/>
          </a:xfrm>
          <a:prstGeom prst="rect">
            <a:avLst/>
          </a:prstGeom>
          <a:solidFill>
            <a:srgbClr val="1C1F2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18872" cy="118872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819656"/>
            <a:ext cx="118872" cy="118872"/>
          </a:xfrm>
          <a:prstGeom prst="ellipse">
            <a:avLst/>
          </a:prstGeom>
          <a:solidFill>
            <a:srgbClr val="FFB81C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1819656"/>
            <a:ext cx="118872" cy="118872"/>
          </a:xfrm>
          <a:prstGeom prst="ellipse">
            <a:avLst/>
          </a:prstGeom>
          <a:solidFill>
            <a:srgbClr val="30A46C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vpo-ai-decision-experiment.html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情境化AI決策支援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5669280" cy="1371600"/>
          </a:xfrm>
          <a:prstGeom prst="roundRect">
            <a:avLst>
              <a:gd name="adj" fmla="val 4000"/>
            </a:avLst>
          </a:prstGeom>
          <a:solidFill>
            <a:srgbClr val="FFB81C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8803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風險等級：高（72/100）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AI建議：升級為公司重大風險處理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6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證據來源：批次追溯DB・SPC系統・FMEA資料庫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是否升級為公司重大風險處理？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8006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E5484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00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48006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30A46C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4800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不升級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1691640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自動記錄：組別、情境類型、閱讀／決策耗時、四構念題項分數、最終決策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資料落地於雲端共用儲存，研究者面板可即時查看樣本數並匯出CSV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原始碼與版本控管於 GitHub：Phidia_human-ai-decision-support-lab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已通過語法檢查與功能測試，可直接發連結給EMBA同學填答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研究方法與工具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SAMPLING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研究對象與抽樣計畫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160–200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目標樣本數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6459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7373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30–40%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06240" y="2423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預估有效回收率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16459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7373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2×2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863840" y="2423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組別 × 情境設計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抽樣方式：以成大EMBA同學及企業AI導入團隊為便利抽樣（convenience sample）；研究限制章節將明確說明代表性限制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篩選機制：以「是否涉及製造／品保／供應鏈相關決策」分流至製造情境或跨產業通用情境，避免產業背景干擾理解程度的量測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背景／控制變數：產業別、目前職級（協理以上／經理／其他）、AI使用經驗（1-5）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資料蒐集管道：EMBA課堂／同學群組發送連結，預留補收時間因應高階主管回收率偏低的現實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研究方法與工具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· ANALYSIS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資料分析方法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777240"/>
          </a:xfrm>
          <a:prstGeom prst="roundRect">
            <a:avLst>
              <a:gd name="adj" fmla="val 8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信度分析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69164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Cronbach's α 檢驗各構念題項內部一致性（目標 α ≥ .70）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48640" cy="777240"/>
          </a:xfrm>
          <a:prstGeom prst="roundRect">
            <a:avLst>
              <a:gd name="adj" fmla="val 83333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58775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組間比較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58775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獨立樣本 t-test（A組 vs B組）＋ 卡方檢定（決策 × 組別）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48640" cy="777240"/>
          </a:xfrm>
          <a:prstGeom prst="roundRect">
            <a:avLst>
              <a:gd name="adj" fmla="val 83333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483864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交互作用檢定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483864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二因子 ANOVA：組別 × 情境類型 → 決策採用意願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48640" cy="777240"/>
          </a:xfrm>
          <a:prstGeom prst="roundRect">
            <a:avLst>
              <a:gd name="adj" fmla="val 83333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379976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中介效果檢定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4379976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階層迴歸／Bootstrap法檢驗感知決策品質的中介角色（H5）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48640" cy="777240"/>
          </a:xfrm>
          <a:prstGeom prst="roundRect">
            <a:avLst>
              <a:gd name="adj" fmla="val 83333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76088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2760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正式結構模型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5276088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SEM路徑驗證（lavaan／semopy），檢視CFA與模型適配度（CFI、RMSEA、SRMR）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資料分析與先導測試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· PILOT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先導測試：模擬資料驗證分析流程可行性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6E3E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以下數字來自程式模擬資料（N=160），僅用於驗證統計流程可執行、量表信度可計算，並非正式研究發現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信度分析 Cronbach's 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12064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 (3題)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0560" y="2560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F7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0.829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感知決策品質 (3題)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017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F7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0.827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12064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AI信任 (4題)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3474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F7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0.800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決策採用意願 (3題)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8056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F7D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0.815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獨立樣本 t-test（A組 / B組平均）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2560320"/>
            <a:ext cx="557784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資訊理解 A/B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41080" y="2560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3.28 / 3.90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9556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d=0.75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感知決策品質 A/B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41080" y="3017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3.21 / 3.76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9556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d=0.65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3474720"/>
            <a:ext cx="5577840" cy="4572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474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決策採用意願 A/B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4108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3.04 / 3.84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95560" y="3474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d=0.98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流程驗證結論：四個構念在模擬資料下皆達 α ≥ .80，t-test、卡方、二因子ANOVA、階層迴歸皆可正常執行。二因子ANOVA顯示組別主效果顯著，但組別×情境交互作用不顯著——代表AI建議效果在製造情境與通用情境間具一致性，雙情境設計具合理性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資料分析與先導測試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預期研究貢獻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理論貢獻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 Trust in Automation、TAM、IS成功模式、TTF 四個理論脈絡於製造業管理決策情境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同時蒐集行為資料（實際決策）與量表資料，強化AI信任研究的效度，回應現有文獻「方法缺口」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以「情境化程度」作為自變項的操作化方式，補充管理情境下AI決策支援的實證證據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實務貢獻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研究結果直接回饋VPO智慧製造決策支援系統的介面設計，決定AI建議應揭露到何種情境化程度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為企業導入AI決策支援工具提供實證準則：證據來源、風險分級、信心水準等元素對信任建立的相對重要性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本研究工具（線上實驗平台）本身即為可重複使用的組織AI導入評估工具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預期貢獻、限制與時程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研究限制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抽樣代表性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以EMBA同學為便利抽樣，樣本可能偏向特定產業與職級分布，外推至一般製造業管理者需謹慎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620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情境外部效度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8620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受測任務為單一模擬情境（每組一案例），未來研究可擴充多情境重複測量以提高外部效度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32504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構念蒐集限制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403250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AI信任構念僅於B組蒐集，A／B組無法在信任構面做完整跨組比較，僅能以其餘三構念做組間分析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02936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202936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共同方法變異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5202936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行為資料與量表資料雖已雙軌蒐集，量表部分仍存在自陳報告偏誤（self-report bias）之疑慮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預期貢獻、限制與時程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研究時程規劃（2026/8 – 2027/1）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94960" y="16916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主要工作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　可行性確認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0" y="21488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8月–8月底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94960" y="214884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題目比較、模型初稿、介面草圖、文獻與量表盤點、教授討論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607040" cy="100584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第二階段　提案審核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0" y="31546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9月–10月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94960" y="315468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研究背景／文獻／方法完稿、問卷結構與評量方式（Likert量表）、AI建議與使用者決策關係之理論基礎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第三階段　資料蒐集與分析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0" y="4160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10月–12月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94960" y="416052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正式實驗問卷與原型施測、資料清理與統計分析、補充訪談、模型修正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0607040" cy="100584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166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第四階段　論文完成口試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0" y="51663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12月–2027/1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94960" y="516636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628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結果撰寫、討論與貢獻、論文完成口試、1月前完成口試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預期貢獻、限制與時程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1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參考文獻（第一版核心理論文獻）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Davis, F. D. (1989). Perceived usefulness, perceived ease of use, and user acceptance of information technology. MIS Quarterly, 13(3), 319–340.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DeLone, W. H., &amp; McLean, E. R. (1992). Information systems success: The quest for the dependent variable. Information Systems Research, 3(1), 60–95.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DeLone, W. H., &amp; McLean, E. R. (2003). The DeLone and McLean model of information systems success: A ten-year update. Journal of Management Information Systems, 19(4), 9–30.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Goodhue, D. L., &amp; Thompson, R. L. (1995). Task-technology fit and individual performance. MIS Quarterly, 19(2), 213–236.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Hoff, K. A., &amp; Bashir, M. (2015). Trust in automation: Integrating empirical evidence on factors that influence trust. Human Factors, 57(3), 407–434.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Lee, J. D., &amp; See, K. A. (2004). Trust in automation: Designing for appropriate reliance. Human Factors, 46(1), 50–80.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Marocco, S., Barbieri, B., &amp; Talamo, A. (2024). Exploring facilitators and barriers to managers' adoption of AI-based systems in decision making: A systematic review. AI, 5(4), 2538–2567.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Mayer, R. C., Davis, J. H., &amp; Schoorman, F. D. (1995). An integrative model of organizational trust. Academy of Management Review, 20(3), 709–734.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Montealegre-López, N. (2025). Exploring the role of trust in AI-driven decision-making: A systematic literature review. Management Review Quarterly. https://doi.org/10.1007/s11301-025-00526-4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Muir, B. M. (1987). Trust between humans and machines, and the design of decision aids. International Journal of Man-Machine Studies, 27(5-6), 527–539.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 (2025). 2025 Smart Manufacturing and Operations Survey: Navigating challenges to implementation. Deloitte Insights.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2F4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59436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此為提案第一版核心理論文獻，正式論文文獻探討章節將依委員意見擴充至完整回顧規模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情境化AI決策支援研究計畫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謝謝聆聽，敬請指導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81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CF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下一版待補：完整文獻回顧（依委員意見擴充）・正式問卷前測與專家內容效度・研究架構圖／操作型定義文件化至 docs/ ・ 真實資料蒐集啟動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2026-08-21T16:34:31Z</dcterms:created>
  <dcterms:modified xsi:type="dcterms:W3CDTF">2026-08-21T16:34:31Z</dcterms:modified>
</cp:coreProperties>
</file>